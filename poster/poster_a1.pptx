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66640" cy="213969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66640" cy="220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266640" cy="6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125000"/>
            <a:ext cx="30266640" cy="75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115000"/>
            <a:ext cx="30266640" cy="10000"/>
          </a:xfrm>
          <a:prstGeom prst="rect">
            <a:avLst/>
          </a:prstGeom>
          <a:solidFill>
            <a:srgbClr val="E8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0000" y="130000"/>
            <a:ext cx="2906664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5600" b="1">
                <a:solidFill>
                  <a:srgbClr val="FFFFFF"/>
                </a:solidFill>
                <a:latin typeface="Calibri"/>
              </a:defRPr>
            </a:pPr>
            <a:r>
              <a:t>Authorship Verification: Combining Stylometric Feature</a:t>
            </a:r>
            <a:br/>
            <a:r>
              <a:t>Engineering with Adversarial Neural Style-Content Disentanglement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000" y="1400000"/>
            <a:ext cx="2906664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BBCCDD"/>
                </a:solidFill>
                <a:latin typeface="Calibri"/>
              </a:defRPr>
            </a:pPr>
            <a:r>
              <a:t>COMP34812 Natural Language Understanding  |  Group 34  |  University of Manchester  |  2025–26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1850000"/>
            <a:ext cx="40000" cy="4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0000" y="1850000"/>
            <a:ext cx="40000" cy="4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1850000"/>
            <a:ext cx="40000" cy="4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826640" y="1850000"/>
            <a:ext cx="40000" cy="4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646640" y="1850000"/>
            <a:ext cx="40000" cy="4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66640" y="1850000"/>
            <a:ext cx="40000" cy="4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197213" y="2350000"/>
            <a:ext cx="12000" cy="184969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069426" y="2350000"/>
            <a:ext cx="12000" cy="184969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0000" y="2350000"/>
            <a:ext cx="9522213" cy="56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0000" y="2350000"/>
            <a:ext cx="70000" cy="56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0000" y="2410000"/>
            <a:ext cx="34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Calibri"/>
              </a:defRPr>
            </a:pPr>
            <a:r>
              <a:t>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000" y="2425000"/>
            <a:ext cx="9232213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2870000"/>
            <a:ext cx="9522213" cy="4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0000" y="2910000"/>
            <a:ext cx="9522213" cy="32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000" y="3040000"/>
            <a:ext cx="9162213" cy="2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Task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Given two texts, determine whether they were written by the same author. Binary classification requiring models to capture authorial style while remaining robust to topical variation.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Key Challenge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Style-content confound: models may exploit topic similarity as a proxy for shared authorship, producing spurious correlations that fail to generalize.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Our Approach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Two complementary strategies from different categories: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7AE60"/>
                </a:solidFill>
                <a:latin typeface="Calibri"/>
              </a:rPr>
              <a:t>Sol 1 (Cat A)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Stylometric feature ensemble with LightGBM classifier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67E22"/>
                </a:solidFill>
                <a:latin typeface="Calibri"/>
              </a:rPr>
              <a:t>Sol 2 (Cat B)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Adversarial CNN-BiLSTM with gradient reversal for style-content disentanglement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310000"/>
            <a:ext cx="9522213" cy="56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0000" y="6310000"/>
            <a:ext cx="70000" cy="56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0000" y="6370000"/>
            <a:ext cx="34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Calibri"/>
              </a:defRPr>
            </a:pPr>
            <a:r>
              <a:t>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000" y="6385000"/>
            <a:ext cx="9232213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Dataset Summary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0000" y="6830000"/>
            <a:ext cx="9522213" cy="4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0000" y="6870000"/>
            <a:ext cx="9522213" cy="27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0000" y="7000000"/>
            <a:ext cx="9162213" cy="2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Training: </a:t>
            </a:r>
            <a:r>
              <a:rPr sz="2200" b="0">
                <a:solidFill>
                  <a:srgbClr val="2D2D2D"/>
                </a:solidFill>
                <a:latin typeface="Calibri"/>
              </a:rPr>
              <a:t>27,643 text pairs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Development: </a:t>
            </a:r>
            <a:r>
              <a:rPr sz="2200" b="0">
                <a:solidFill>
                  <a:srgbClr val="2D2D2D"/>
                </a:solidFill>
                <a:latin typeface="Calibri"/>
              </a:rPr>
              <a:t>5,993 text pairs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Labels: </a:t>
            </a:r>
            <a:r>
              <a:rPr sz="2200" b="0">
                <a:solidFill>
                  <a:srgbClr val="2D2D2D"/>
                </a:solidFill>
                <a:latin typeface="Calibri"/>
              </a:rPr>
              <a:t>Same Author (51%) / Different Author (49%)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Domains: </a:t>
            </a:r>
            <a:r>
              <a:rPr sz="2200" b="0">
                <a:solidFill>
                  <a:srgbClr val="2D2D2D"/>
                </a:solidFill>
                <a:latin typeface="Calibri"/>
              </a:rPr>
              <a:t>Cross-domain (emails, blogs, reviews)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Representation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Diff-vector |f(t₁) − f(t₂)| capturing stylistic distance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Content-agnostic by design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Closed mode — only provided training data permitted.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9770000"/>
            <a:ext cx="9522213" cy="56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0000" y="9770000"/>
            <a:ext cx="70000" cy="56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0000" y="9830000"/>
            <a:ext cx="34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Calibri"/>
              </a:defRPr>
            </a:pPr>
            <a:r>
              <a:t>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0000" y="9845000"/>
            <a:ext cx="9232213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Solution 1: Stylometric Ensemble (Cat A)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0000" y="10290000"/>
            <a:ext cx="9522213" cy="4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00000" y="10330000"/>
            <a:ext cx="9522213" cy="48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0000" y="10460000"/>
            <a:ext cx="9162213" cy="4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417 handcrafted features across 9 groups: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Standard Stylometric Features (396):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Function words (150)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Closed-class words as style markers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TF-IDF + SVD (100)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Latent semantic dimensions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Character n-grams (56)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2–4 char frequency profiles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POS tags (45)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Syntactic preference signatures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Lexical richness (30)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TTR, Yule's K, hapax ratios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Structural (15)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Sentence/paragraph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Novel Features (21):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Syntactic complexity (10)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Parse tree depth, clause density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Writing rhythm (6)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Syllable variance, punctuation cadence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Info-theoretic (5)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Entropy, compression ratio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Classifier: LightGBM (1000 trees, max_depth=7)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Diff-vector: |f(t₁) − f(t₂)| + topic-correlated penalty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0000" y="15330000"/>
            <a:ext cx="9522213" cy="56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0000" y="15330000"/>
            <a:ext cx="70000" cy="56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0000" y="15405000"/>
            <a:ext cx="9232213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Feature Group Breakdown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0000" y="15850000"/>
            <a:ext cx="9522213" cy="4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00000" y="15890000"/>
            <a:ext cx="9522213" cy="42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feature_groups_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00" y="16090000"/>
            <a:ext cx="9222213" cy="3800000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0372213" y="2350000"/>
            <a:ext cx="9522213" cy="56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372213" y="2350000"/>
            <a:ext cx="70000" cy="56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72213" y="2410000"/>
            <a:ext cx="34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Calibri"/>
              </a:defRPr>
            </a:pPr>
            <a:r>
              <a:t>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52213" y="2425000"/>
            <a:ext cx="9232213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Solution 2: Adversarial Disentanglement (Cat B)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372213" y="2870000"/>
            <a:ext cx="9522213" cy="4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372213" y="2910000"/>
            <a:ext cx="9522213" cy="42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52213" y="3040000"/>
            <a:ext cx="9162213" cy="3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Siamese Encoder Architecture: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Character embedding (64d)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Sub-word stylistic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Multi-width CNN (k=3,5,7)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Local char features at multiple scales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BiLSTM (256 hidden)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Sequential writing style dependencies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Additive Attention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Salient style-feature weighting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Adversarial Debiasing: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Gradient Reversal Layer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Ganin &amp; Lempitsky (2015)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Topic pseudo-labels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TF-IDF + KMeans (k=10)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Forces topic-invariant style representations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Data Augmentation: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Character perturbation for stylistic invariance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Random insertion/deletion/swap at char level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372213" y="7310000"/>
            <a:ext cx="9522213" cy="56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372213" y="7310000"/>
            <a:ext cx="70000" cy="56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572213" y="7385000"/>
            <a:ext cx="9232213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Neural Architecture Diagram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372213" y="7830000"/>
            <a:ext cx="9522213" cy="4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0372213" y="7870000"/>
            <a:ext cx="9522213" cy="50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arch_diagram_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2213" y="8090000"/>
            <a:ext cx="9282213" cy="450000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10372213" y="13070000"/>
            <a:ext cx="9522213" cy="56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372213" y="13070000"/>
            <a:ext cx="70000" cy="56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72213" y="13130000"/>
            <a:ext cx="34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Calibri"/>
              </a:defRPr>
            </a:pPr>
            <a:r>
              <a:t>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52213" y="13145000"/>
            <a:ext cx="9232213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(Development Set)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72213" y="13590000"/>
            <a:ext cx="9522213" cy="4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0372213" y="13630000"/>
            <a:ext cx="9522213" cy="38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52213" y="13760000"/>
            <a:ext cx="9162213" cy="35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B3A5C"/>
                </a:solidFill>
                <a:latin typeface="Calibri"/>
              </a:rPr>
              <a:t>Model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    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Macro F1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vs Baseline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SVM Baseline          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0.5610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LSTM Baseline         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0.6226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BERT Baseline         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0.7854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27AE60"/>
                </a:solidFill>
                <a:latin typeface="Calibri"/>
              </a:rPr>
              <a:t>★ Sol 1 (Cat A)      </a:t>
            </a:r>
            <a:r>
              <a:rPr sz="2200" b="1">
                <a:solidFill>
                  <a:srgbClr val="27AE60"/>
                </a:solidFill>
                <a:latin typeface="Calibri"/>
              </a:rPr>
              <a:t>0.7340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</a:t>
            </a:r>
            <a:r>
              <a:rPr sz="2200" b="1">
                <a:solidFill>
                  <a:srgbClr val="27AE60"/>
                </a:solidFill>
                <a:latin typeface="Calibri"/>
              </a:rPr>
              <a:t>+30.8% vs SVM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E67E22"/>
                </a:solidFill>
                <a:latin typeface="Calibri"/>
              </a:rPr>
              <a:t>★ Sol 2 (Cat B)      </a:t>
            </a:r>
            <a:r>
              <a:rPr sz="2200" b="1">
                <a:solidFill>
                  <a:srgbClr val="E67E22"/>
                </a:solidFill>
                <a:latin typeface="Calibri"/>
              </a:rPr>
              <a:t>0.7422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</a:t>
            </a:r>
            <a:r>
              <a:rPr sz="2200" b="1">
                <a:solidFill>
                  <a:srgbClr val="E67E22"/>
                </a:solidFill>
                <a:latin typeface="Calibri"/>
              </a:rPr>
              <a:t>+19.2% vs LSTM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*** p &lt; 0.001, McNemar’s test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Both solutions show statistically significant improvement over same-category baselines.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372213" y="17630000"/>
            <a:ext cx="9522213" cy="56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372213" y="17630000"/>
            <a:ext cx="70000" cy="56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72213" y="17690000"/>
            <a:ext cx="34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Calibri"/>
              </a:defRPr>
            </a:pPr>
            <a:r>
              <a:t>⑥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752213" y="17705000"/>
            <a:ext cx="9232213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Evaluation Methodology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72213" y="18150000"/>
            <a:ext cx="9522213" cy="4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0372213" y="18190000"/>
            <a:ext cx="9522213" cy="24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52213" y="18320000"/>
            <a:ext cx="9162213" cy="2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Metrics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Macro F1 (primary), MCC, per-class Precision/Recall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Statistical Testing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McNemar's test for paired significance (p &lt; 0.001)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Additional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Feature ablation study, inter-model agreement (κ)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Cross-domain error breakdown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0244426" y="2350000"/>
            <a:ext cx="9522213" cy="56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0244426" y="2350000"/>
            <a:ext cx="70000" cy="56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0344426" y="2410000"/>
            <a:ext cx="34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Calibri"/>
              </a:defRPr>
            </a:pPr>
            <a:r>
              <a:t>⑦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624426" y="2425000"/>
            <a:ext cx="9232213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Performance Comparison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0244426" y="2870000"/>
            <a:ext cx="9522213" cy="4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20244426" y="2910000"/>
            <a:ext cx="9522213" cy="38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f1_chart_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94426" y="3160000"/>
            <a:ext cx="9222213" cy="3300000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20244426" y="6910000"/>
            <a:ext cx="9522213" cy="56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0244426" y="6910000"/>
            <a:ext cx="70000" cy="56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0444426" y="6985000"/>
            <a:ext cx="9232213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Confusion Matrices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0244426" y="7430000"/>
            <a:ext cx="9522213" cy="4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0244426" y="7470000"/>
            <a:ext cx="9522213" cy="32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cm_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44426" y="7720000"/>
            <a:ext cx="9322213" cy="2700000"/>
          </a:xfrm>
          <a:prstGeom prst="rect">
            <a:avLst/>
          </a:prstGeom>
        </p:spPr>
      </p:pic>
      <p:sp>
        <p:nvSpPr>
          <p:cNvPr id="83" name="Rectangle 82"/>
          <p:cNvSpPr/>
          <p:nvPr/>
        </p:nvSpPr>
        <p:spPr>
          <a:xfrm>
            <a:off x="20244426" y="10870000"/>
            <a:ext cx="9522213" cy="56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0244426" y="10870000"/>
            <a:ext cx="70000" cy="56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0344426" y="10930000"/>
            <a:ext cx="34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Calibri"/>
              </a:defRPr>
            </a:pPr>
            <a:r>
              <a:t>⑧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0624426" y="10945000"/>
            <a:ext cx="9232213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Error Analysis &amp; Findings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0244426" y="11390000"/>
            <a:ext cx="9522213" cy="4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20244426" y="11430000"/>
            <a:ext cx="9522213" cy="35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0424426" y="11560000"/>
            <a:ext cx="9162213" cy="3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Inter-model agreement: </a:t>
            </a:r>
            <a:r>
              <a:rPr sz="2200" b="0">
                <a:solidFill>
                  <a:srgbClr val="2D2D2D"/>
                </a:solidFill>
                <a:latin typeface="Calibri"/>
              </a:rPr>
              <a:t>~70% (Cohen’s κ = 0.40)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000" b="0">
                <a:solidFill>
                  <a:srgbClr val="666666"/>
                </a:solidFill>
                <a:latin typeface="Calibri"/>
              </a:defRPr>
            </a:pPr>
            <a:r>
              <a:t>Models capture complementary patterns.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Complementary Failure Modes: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7AE60"/>
                </a:solidFill>
                <a:latin typeface="Calibri"/>
              </a:rPr>
              <a:t>  •  Sol 1: </a:t>
            </a:r>
            <a:r>
              <a:rPr sz="2000" b="0">
                <a:solidFill>
                  <a:srgbClr val="2D2D2D"/>
                </a:solidFill>
                <a:latin typeface="Calibri"/>
              </a:rPr>
              <a:t>Struggles with short texts (&lt;200 tokens) — insufficient stylometric features.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E67E22"/>
                </a:solidFill>
                <a:latin typeface="Calibri"/>
              </a:rPr>
              <a:t>  •  Sol 2: </a:t>
            </a:r>
            <a:r>
              <a:rPr sz="2000" b="0">
                <a:solidFill>
                  <a:srgbClr val="2D2D2D"/>
                </a:solidFill>
                <a:latin typeface="Calibri"/>
              </a:rPr>
              <a:t>Struggles with formal/structured texts — less char-level variation.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E84D60"/>
                </a:solidFill>
                <a:latin typeface="Calibri"/>
              </a:rPr>
              <a:t>  •  Topic confound: </a:t>
            </a:r>
            <a:r>
              <a:rPr sz="2000" b="0">
                <a:solidFill>
                  <a:srgbClr val="2D2D2D"/>
                </a:solidFill>
                <a:latin typeface="Calibri"/>
              </a:rPr>
              <a:t>Elevated FP rates on same-topic pairs; GRL in Sol 2 partially mitigates.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Ablation: </a:t>
            </a:r>
            <a:r>
              <a:rPr sz="2200" b="0">
                <a:solidFill>
                  <a:srgbClr val="2D2D2D"/>
                </a:solidFill>
                <a:latin typeface="Calibri"/>
              </a:rPr>
              <a:t>Removing novel features drops Sol 1 F1 by 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0244426" y="15130000"/>
            <a:ext cx="9522213" cy="56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0244426" y="15130000"/>
            <a:ext cx="70000" cy="56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0344426" y="15190000"/>
            <a:ext cx="34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Calibri"/>
              </a:defRPr>
            </a:pPr>
            <a:r>
              <a:t>⑨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624426" y="15205000"/>
            <a:ext cx="9232213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Limitations &amp; Ethics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0244426" y="15650000"/>
            <a:ext cx="9522213" cy="4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20244426" y="15690000"/>
            <a:ext cx="9522213" cy="25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0424426" y="15820000"/>
            <a:ext cx="9162213" cy="2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Limitations: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Closed-mode only — may not generalize to other domains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English-only; cultural biases in writing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Style verification can be circumvented by imitation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Neither surpasses BERT baseline (0.7854)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E67E22"/>
                </a:solidFill>
                <a:latin typeface="Calibri"/>
              </a:defRPr>
            </a:pPr>
            <a:r>
              <a:t>Ethical Considerations: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Surveillance risk: deanonymization of whistleblowers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False positives in forensic contexts cause serious harm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0244426" y="18390000"/>
            <a:ext cx="9522213" cy="56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0244426" y="18390000"/>
            <a:ext cx="70000" cy="56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444426" y="18465000"/>
            <a:ext cx="9232213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Key References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0244426" y="18910000"/>
            <a:ext cx="9522213" cy="4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20244426" y="18950000"/>
            <a:ext cx="9522213" cy="16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0424426" y="19080000"/>
            <a:ext cx="9162213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[1] Stamatatos et al. (2023) Diff-Vectors for Authorship Analysis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[2] Ganin &amp; Lempitsky (2015) Domain Adaptation by Backpropagation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[3] Abbasi &amp; Chen (2008) Writeprints: Stylometric Identification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[4] Boenninghoff et al. (2019) AdHominem: Explainable AV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0" y="20946960"/>
            <a:ext cx="30266640" cy="45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0" y="20946960"/>
            <a:ext cx="30266640" cy="45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00000" y="21056960"/>
            <a:ext cx="2906664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99AABB"/>
                </a:solidFill>
                <a:latin typeface="Calibri"/>
              </a:defRPr>
            </a:pPr>
            <a:r>
              <a:t>COMP34812 Natural Language Understanding  │  University of Manchester  │  Group 34  │  2025–26  │  Closed Mode  │  github.com/ayush-kumar-prog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