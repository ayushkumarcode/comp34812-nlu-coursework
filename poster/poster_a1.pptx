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5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7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15000"/>
            <a:ext cx="30266640" cy="8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405000"/>
            <a:ext cx="30266640" cy="12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80000"/>
            <a:ext cx="2866664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1550000"/>
            <a:ext cx="286666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00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72164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52164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21640" y="2050000"/>
            <a:ext cx="4500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22213" y="2700000"/>
            <a:ext cx="12000" cy="1799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44426" y="2700000"/>
            <a:ext cx="12000" cy="1799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0000" y="270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0000" y="270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278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000" y="280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000" y="333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0000" y="3380000"/>
            <a:ext cx="9422213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510000"/>
            <a:ext cx="9022213" cy="3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defRPr sz="24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defRPr sz="24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2D2D2D"/>
                </a:solidFill>
                <a:latin typeface="Calibri"/>
              </a:defRPr>
            </a:pPr>
            <a:r>
              <a:t>Two complementary strategies from different categories: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style-content disentanglement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0000" y="718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0000" y="718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726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000" y="728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00" y="781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0000" y="7860000"/>
            <a:ext cx="9422213" cy="30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00" y="7990000"/>
            <a:ext cx="9022213" cy="2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4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4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400" b="0">
                <a:solidFill>
                  <a:srgbClr val="2D2D2D"/>
                </a:solidFill>
                <a:latin typeface="Calibri"/>
              </a:rPr>
              <a:t>Cross-domain (emails, blogs,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000" y="1116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00" y="1116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00" y="1124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0000" y="1126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0000" y="1179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0000" y="11840000"/>
            <a:ext cx="9422213" cy="5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11970000"/>
            <a:ext cx="9022213" cy="4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417 handcrafted features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Standard Stylometric Features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Diff-vector: |f(t₁) − f(t₂)| + topic-correlated penalty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0000" y="1734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00" y="1734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000" y="1744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0000" y="1797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0000" y="18020000"/>
            <a:ext cx="9422213" cy="4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00" y="18270000"/>
            <a:ext cx="9062213" cy="4300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0422213" y="270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22213" y="270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42213" y="278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42213" y="280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Solution 2: Adversarial Disentanglement (Cat B)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22213" y="333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22213" y="3380000"/>
            <a:ext cx="9422213" cy="4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22213" y="3510000"/>
            <a:ext cx="9022213" cy="4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Siamese Encoder Architecture: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Character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Local char features at multiple scales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writing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style-feature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Data Augmentation: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Character perturbation for stylistic invariance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Random insertion/deletion/swap at char level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2213" y="848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422213" y="848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52213" y="858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2213" y="911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0422213" y="9160000"/>
            <a:ext cx="9422213" cy="5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213" y="9410000"/>
            <a:ext cx="9162213" cy="53000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0422213" y="1526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22213" y="1526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42213" y="1534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42213" y="1536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2213" y="1589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2213" y="15940000"/>
            <a:ext cx="9422213" cy="4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22213" y="16070000"/>
            <a:ext cx="9022213" cy="4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1B3A5C"/>
                </a:solidFill>
                <a:latin typeface="Calibri"/>
              </a:rPr>
              <a:t>Model</a:t>
            </a:r>
            <a:r>
              <a:rPr sz="2400" b="0">
                <a:solidFill>
                  <a:srgbClr val="2D2D2D"/>
                </a:solidFill>
                <a:latin typeface="Calibri"/>
              </a:rPr>
              <a:t>                        </a:t>
            </a:r>
            <a:r>
              <a:rPr sz="2400" b="1">
                <a:solidFill>
                  <a:srgbClr val="1B3A5C"/>
                </a:solidFill>
                <a:latin typeface="Calibri"/>
              </a:rPr>
              <a:t>Macro F1</a:t>
            </a:r>
            <a:r>
              <a:rPr sz="2400" b="0">
                <a:solidFill>
                  <a:srgbClr val="2D2D2D"/>
                </a:solidFill>
                <a:latin typeface="Calibri"/>
              </a:rPr>
              <a:t>       </a:t>
            </a:r>
            <a:r>
              <a:rPr sz="24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SVM Baseline             </a:t>
            </a:r>
            <a:r>
              <a:rPr sz="22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2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LSTM Baseline            </a:t>
            </a:r>
            <a:r>
              <a:rPr sz="22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2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BERT Baseline            </a:t>
            </a:r>
            <a:r>
              <a:rPr sz="22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2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7AE60"/>
                </a:solidFill>
                <a:latin typeface="Calibri"/>
              </a:rPr>
              <a:t>★ Sol 1 (Cat A)      </a:t>
            </a:r>
            <a:r>
              <a:rPr sz="24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400" b="0">
                <a:solidFill>
                  <a:srgbClr val="2D2D2D"/>
                </a:solidFill>
                <a:latin typeface="Calibri"/>
              </a:rPr>
              <a:t>     </a:t>
            </a:r>
            <a:r>
              <a:rPr sz="24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2400" b="1">
                <a:solidFill>
                  <a:srgbClr val="E67E22"/>
                </a:solidFill>
                <a:latin typeface="Calibri"/>
              </a:rPr>
              <a:t>★ Sol 2 (Cat B)      </a:t>
            </a:r>
            <a:r>
              <a:rPr sz="24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400" b="0">
                <a:solidFill>
                  <a:srgbClr val="2D2D2D"/>
                </a:solidFill>
                <a:latin typeface="Calibri"/>
              </a:rPr>
              <a:t>     </a:t>
            </a:r>
            <a:r>
              <a:rPr sz="24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Both solutions show statistically significant improvement over same-category baselines.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422213" y="2064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22213" y="2064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42213" y="2072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42213" y="2074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422213" y="2127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422213" y="21320000"/>
            <a:ext cx="9422213" cy="2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22213" y="21450000"/>
            <a:ext cx="9022213" cy="2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Macro F1 (primary), MCC, per-class Precision/Recall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McNemar's test for paired significance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Additional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Feature ablation study, inter-model agreement (κ)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244426" y="270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44426" y="270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364426" y="278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664426" y="280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244426" y="333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0244426" y="3380000"/>
            <a:ext cx="9422213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24426" y="3680000"/>
            <a:ext cx="9062213" cy="4000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0244426" y="828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0244426" y="828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474426" y="838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0244426" y="891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0244426" y="8960000"/>
            <a:ext cx="9422213" cy="3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4426" y="9260000"/>
            <a:ext cx="9222213" cy="3200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20244426" y="1306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0244426" y="1306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364426" y="1314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664426" y="1316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Error Analysis &amp; Findings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244426" y="1369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0244426" y="13740000"/>
            <a:ext cx="9422213" cy="40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444426" y="13870000"/>
            <a:ext cx="9022213" cy="3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~70% (Cohen’s κ =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666666"/>
                </a:solidFill>
                <a:latin typeface="Calibri"/>
              </a:defRPr>
            </a:pPr>
            <a:r>
              <a:t>Models capture complementary patterns.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200" b="0">
                <a:solidFill>
                  <a:srgbClr val="2D2D2D"/>
                </a:solidFill>
                <a:latin typeface="Calibri"/>
              </a:rPr>
              <a:t>Struggles with short texts (&lt;200 tokens) — insufficient stylometric features.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200" b="0">
                <a:solidFill>
                  <a:srgbClr val="2D2D2D"/>
                </a:solidFill>
                <a:latin typeface="Calibri"/>
              </a:rPr>
              <a:t>Struggles with formal/structured texts — less char-level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200" b="0">
                <a:solidFill>
                  <a:srgbClr val="2D2D2D"/>
                </a:solidFill>
                <a:latin typeface="Calibri"/>
              </a:rPr>
              <a:t>Elevated FP rates on same-topic pairs; GRL in Sol 2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4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244426" y="1804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244426" y="1804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364426" y="18120000"/>
            <a:ext cx="38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664426" y="1814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244426" y="1867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0244426" y="18720000"/>
            <a:ext cx="9422213" cy="27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444426" y="18850000"/>
            <a:ext cx="9022213" cy="2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Closed-mode only — may not generalize to other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English-only; cultural biases in writing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Style verification can be circumvented by imitation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Neither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Surveillance risk: deanonymization of whistleblowers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False positives in forensic contexts cause serious harm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244426" y="21720000"/>
            <a:ext cx="9422213" cy="68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0244426" y="21720000"/>
            <a:ext cx="80000" cy="68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474426" y="21820000"/>
            <a:ext cx="9092213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0244426" y="22355000"/>
            <a:ext cx="9422213" cy="4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0244426" y="22400000"/>
            <a:ext cx="9422213" cy="1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444426" y="22530000"/>
            <a:ext cx="9022213" cy="1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0" y="20896960"/>
            <a:ext cx="30266640" cy="5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0" y="20896960"/>
            <a:ext cx="3026664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00000" y="21006960"/>
            <a:ext cx="290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