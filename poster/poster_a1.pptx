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213969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210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66640" cy="500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35000"/>
            <a:ext cx="30266640" cy="65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5000"/>
            <a:ext cx="30266640" cy="10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20000"/>
            <a:ext cx="2926664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Authorship Verification: Combining Stylometric Feature</a:t>
            </a:r>
            <a:br/>
            <a:r>
              <a:t>Engineering with Adversarial Neural Style-Content Disentanglement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350000"/>
            <a:ext cx="292666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BBCCDD"/>
                </a:solidFill>
                <a:latin typeface="Calibri"/>
              </a:defRPr>
            </a:pPr>
            <a:r>
              <a:t>COMP34812 Natural Language Understanding  |  Group 34  |  University of Manchester  | 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700000"/>
            <a:ext cx="29266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D54F"/>
                </a:solidFill>
                <a:latin typeface="Calibri"/>
              </a:defRPr>
            </a:pPr>
            <a:r>
              <a:t>Cat A: F1=0.7340 (+30.8% vs SVM, p&lt;0.001)   |   Cat B: F1=0.7422 (+19.2% vs LSTM, p&lt;0.001)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85546" y="2230000"/>
            <a:ext cx="10000" cy="18686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081092" y="2230000"/>
            <a:ext cx="10000" cy="18686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000" y="22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000" y="22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000" y="229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000" y="22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Task &amp; Motivation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000" y="27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000" y="2750000"/>
            <a:ext cx="9575546" cy="26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000" y="2860000"/>
            <a:ext cx="9255546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2D2D2D"/>
                </a:solidFill>
                <a:latin typeface="Calibri"/>
              </a:defRPr>
            </a:pPr>
            <a:r>
              <a:t>Authorship Verification (AV): given two texts, determine if they share the same author. Binary classification task requiring style-sensitive, content-invariant models.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Core Challenge: Style-Content Confound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2D2D2D"/>
                </a:solidFill>
                <a:latin typeface="Calibri"/>
              </a:defRPr>
            </a:pPr>
            <a:r>
              <a:t>Models may learn topic similarity as a proxy for shared authorship, producing brittle correlations that fail to generalize.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Our Two Solutions: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7AE60"/>
                </a:solidFill>
                <a:latin typeface="Calibri"/>
              </a:rPr>
              <a:t>Sol 1 (Cat A)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Stylometric LightGBM with 695-dim diff-vectors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E67E22"/>
                </a:solidFill>
                <a:latin typeface="Calibri"/>
              </a:rPr>
              <a:t>Sol 2 (Cat B)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Siamese CNN-BiLSTM with adversarial debiasing (GRL)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" y="55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0000" y="55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559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0" y="55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Dataset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000" y="60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0000" y="6050000"/>
            <a:ext cx="9575546" cy="205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000" y="6160000"/>
            <a:ext cx="9255546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Training pairs: </a:t>
            </a:r>
            <a:r>
              <a:rPr sz="2200" b="0">
                <a:solidFill>
                  <a:srgbClr val="2D2D2D"/>
                </a:solidFill>
                <a:latin typeface="Calibri"/>
              </a:rPr>
              <a:t>27,643 (51% same-author, 49% different)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Dev pairs: </a:t>
            </a:r>
            <a:r>
              <a:rPr sz="2200" b="0">
                <a:solidFill>
                  <a:srgbClr val="2D2D2D"/>
                </a:solidFill>
                <a:latin typeface="Calibri"/>
              </a:rPr>
              <a:t>5,993 (same distribution)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Domains: </a:t>
            </a:r>
            <a:r>
              <a:rPr sz="2200" b="0">
                <a:solidFill>
                  <a:srgbClr val="2D2D2D"/>
                </a:solidFill>
                <a:latin typeface="Calibri"/>
              </a:rPr>
              <a:t>Cross-domain (emails, blogs, reviews, essays)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Mode: </a:t>
            </a:r>
            <a:r>
              <a:rPr sz="2200" b="0">
                <a:solidFill>
                  <a:srgbClr val="2D2D2D"/>
                </a:solidFill>
                <a:latin typeface="Calibri"/>
              </a:rPr>
              <a:t>Closed — only provided training data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Near-balanced: macro F1 closely tracks 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Each pair: 2 texts (variable length, 50-10,000 tokens)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000" y="828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0000" y="828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000" y="834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000" y="834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Sol 1: Stylometric Ensemble (Cat 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000" y="876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0000" y="8800000"/>
            <a:ext cx="9575546" cy="46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000" y="8910000"/>
            <a:ext cx="9255546" cy="4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417 features per text across 9 groups: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Standard Stylometric (396):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Function words (150)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Closed-class words as style markers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TF-IDF + SVD (100)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Latent semantic dimensions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Character n-grams (56)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2–4 char frequency profiles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POS tags (45)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Syntactic preference signatures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Lexical richness (30)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TTR, Yule's K, hapax ratios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Structural (15)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Sentence/paragraph length patterns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Novel Features (21):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E84D60"/>
                </a:solidFill>
                <a:latin typeface="Calibri"/>
              </a:rPr>
              <a:t>Syntactic complexity (10)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Parse tree depth, clause density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E84D60"/>
                </a:solidFill>
                <a:latin typeface="Calibri"/>
              </a:rPr>
              <a:t>Writing rhythm (6)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Syllable variance, punctuation cadence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E84D60"/>
                </a:solidFill>
                <a:latin typeface="Calibri"/>
              </a:rPr>
              <a:t>Info-theoretic (5)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Entropy rate, compression ratio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Representation: diff-vector |f(t1) - f(t2)| -&gt; 695 dims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Classifier: LightGBM (1000 trees, max_depth=7)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000" y="1358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0000" y="1358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00" y="1364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Feature Group Breakdown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0000" y="1406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000" y="14100000"/>
            <a:ext cx="9575546" cy="4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eature_groups_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00" y="14280000"/>
            <a:ext cx="9335546" cy="38000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50000" y="18480000"/>
            <a:ext cx="9575546" cy="2200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000" y="18580000"/>
            <a:ext cx="925554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1B3A5C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D2D2D"/>
                </a:solidFill>
                <a:latin typeface="Calibri"/>
              </a:defRPr>
            </a:pPr>
            <a:r>
              <a:t>The diff-vector |f(t₁) − f(t₂)| representation is central to Cat A: each feature captures authorial style per text, and the absolute difference measures stylistic distance. This makes the representation symmetric and content-agnostic by construction.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E84D60"/>
                </a:solidFill>
                <a:latin typeface="Calibri"/>
              </a:defRPr>
            </a:pPr>
            <a:r>
              <a:t>The 21 novel features (syntactic complexity, writing rhythm, information-theoretic measures) contribute a statistically significant +1.8% F1 gain over standard stylometric features alone.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45546" y="22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45546" y="22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5546" y="229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05546" y="22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Sol 2: Adversarial Disentanglement (Cat 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45546" y="27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345546" y="2750000"/>
            <a:ext cx="9575546" cy="44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05546" y="2860000"/>
            <a:ext cx="9255546" cy="4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Siamese Encoder (shared weights, 813K params):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Char embedding (32d)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Sub-word stylistic patterns (vocab=97)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Multi-width CNN (k=3,5,7)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128 filters each -&gt; 384d, MaxPool(3)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BiLSTM (hidden=128)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Bidirectional -&gt; 256d sequential features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Additive Attention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Bahdanau-style, focuses on salient style cues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2D2D2D"/>
                </a:solidFill>
                <a:latin typeface="Calibri"/>
              </a:rPr>
              <a:t>Projection (128d)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ReLU + Dropout(0.3) bottleneck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Comparison: [v₁, v₂, |v₁−v₂|, v₁⊙v₂] = 512d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MLP Classifier: 512 -&gt; 256 -&gt; 64 -&gt; 1 (BCE loss)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Adversarial Debiasing (Novel):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E84D60"/>
                </a:solidFill>
                <a:latin typeface="Calibri"/>
              </a:rPr>
              <a:t>Gradient Reversal Layer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Ganin &amp; Lempitsky (2015)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1">
                <a:solidFill>
                  <a:srgbClr val="E84D60"/>
                </a:solidFill>
                <a:latin typeface="Calibri"/>
              </a:rPr>
              <a:t>Topic pseudo-labels</a:t>
            </a:r>
            <a:r>
              <a:rPr sz="1800" b="0">
                <a:solidFill>
                  <a:srgbClr val="666666"/>
                </a:solidFill>
                <a:latin typeface="Calibri"/>
              </a:rPr>
              <a:t> — TF-IDF + KMeans (k=10)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Lambda ramp: 0 -&gt; 0.05 over 20 epochs; topic_weight=0.02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Forces topic-invariant style representations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Training: lr=2e-4, batch=64, 40 epochs, char perturbation aug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45546" y="73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345546" y="73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25546" y="73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Neural Architecture (Sol 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45546" y="78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345546" y="7850000"/>
            <a:ext cx="9575546" cy="48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arch_diagram_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546" y="8050000"/>
            <a:ext cx="9375546" cy="435000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0345546" y="128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45546" y="128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45546" y="1289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05546" y="128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Results (Dev Set)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45546" y="133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345546" y="13350000"/>
            <a:ext cx="9575546" cy="385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05546" y="13460000"/>
            <a:ext cx="9255546" cy="3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1B3A5C"/>
                </a:solidFill>
                <a:latin typeface="Calibri"/>
              </a:rPr>
              <a:t>Model</a:t>
            </a:r>
            <a:r>
              <a:rPr sz="2200" b="0">
                <a:solidFill>
                  <a:srgbClr val="2D2D2D"/>
                </a:solidFill>
                <a:latin typeface="Calibri"/>
              </a:rPr>
              <a:t>                           </a:t>
            </a:r>
            <a:r>
              <a:rPr sz="2200" b="1">
                <a:solidFill>
                  <a:srgbClr val="1B3A5C"/>
                </a:solidFill>
                <a:latin typeface="Calibri"/>
              </a:rPr>
              <a:t>F1</a:t>
            </a:r>
            <a:r>
              <a:rPr sz="2200" b="0">
                <a:solidFill>
                  <a:srgbClr val="2D2D2D"/>
                </a:solidFill>
                <a:latin typeface="Calibri"/>
              </a:rPr>
              <a:t>          </a:t>
            </a:r>
            <a:r>
              <a:rPr sz="2200" b="1">
                <a:solidFill>
                  <a:srgbClr val="1B3A5C"/>
                </a:solidFill>
                <a:latin typeface="Calibri"/>
              </a:rPr>
              <a:t>MCC</a:t>
            </a:r>
            <a:r>
              <a:rPr sz="2200" b="0">
                <a:solidFill>
                  <a:srgbClr val="2D2D2D"/>
                </a:solidFill>
                <a:latin typeface="Calibri"/>
              </a:rPr>
              <a:t>          </a:t>
            </a:r>
            <a:r>
              <a:rPr sz="2200" b="1">
                <a:solidFill>
                  <a:srgbClr val="1B3A5C"/>
                </a:solidFill>
                <a:latin typeface="Calibri"/>
              </a:rPr>
              <a:t>Δ Baseline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SVM (Cat A baseline)     </a:t>
            </a:r>
            <a:r>
              <a:rPr sz="2000" b="0">
                <a:solidFill>
                  <a:srgbClr val="666666"/>
                </a:solidFill>
                <a:latin typeface="Calibri"/>
              </a:rPr>
              <a:t>0.5610</a:t>
            </a:r>
            <a:r>
              <a:rPr sz="2000" b="0">
                <a:solidFill>
                  <a:srgbClr val="BBBBBB"/>
                </a:solidFill>
                <a:latin typeface="Calibri"/>
              </a:rPr>
              <a:t>       —            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LSTM (Cat B baseline)   </a:t>
            </a:r>
            <a:r>
              <a:rPr sz="2000" b="0">
                <a:solidFill>
                  <a:srgbClr val="666666"/>
                </a:solidFill>
                <a:latin typeface="Calibri"/>
              </a:rPr>
              <a:t>0.6226</a:t>
            </a:r>
            <a:r>
              <a:rPr sz="2000" b="0">
                <a:solidFill>
                  <a:srgbClr val="BBBBBB"/>
                </a:solidFill>
                <a:latin typeface="Calibri"/>
              </a:rPr>
              <a:t>       —            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BERT (Cat C baseline)   </a:t>
            </a:r>
            <a:r>
              <a:rPr sz="2000" b="0">
                <a:solidFill>
                  <a:srgbClr val="666666"/>
                </a:solidFill>
                <a:latin typeface="Calibri"/>
              </a:rPr>
              <a:t>0.7854</a:t>
            </a:r>
            <a:r>
              <a:rPr sz="2000" b="0">
                <a:solidFill>
                  <a:srgbClr val="BBBBBB"/>
                </a:solidFill>
                <a:latin typeface="Calibri"/>
              </a:rPr>
              <a:t>       —            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7AE60"/>
                </a:solidFill>
                <a:latin typeface="Calibri"/>
              </a:rPr>
              <a:t>★ Sol 1 (Cat A)         </a:t>
            </a:r>
            <a:r>
              <a:rPr sz="2200" b="1">
                <a:solidFill>
                  <a:srgbClr val="27AE60"/>
                </a:solidFill>
                <a:latin typeface="Calibri"/>
              </a:rPr>
              <a:t>0.7340</a:t>
            </a:r>
            <a:r>
              <a:rPr sz="2200" b="0">
                <a:solidFill>
                  <a:srgbClr val="2D2D2D"/>
                </a:solidFill>
                <a:latin typeface="Calibri"/>
              </a:rPr>
              <a:t>   </a:t>
            </a:r>
            <a:r>
              <a:rPr sz="2200" b="1">
                <a:solidFill>
                  <a:srgbClr val="27AE60"/>
                </a:solidFill>
                <a:latin typeface="Calibri"/>
              </a:rPr>
              <a:t>0.469</a:t>
            </a:r>
            <a:r>
              <a:rPr sz="2200" b="0">
                <a:solidFill>
                  <a:srgbClr val="2D2D2D"/>
                </a:solidFill>
                <a:latin typeface="Calibri"/>
              </a:rPr>
              <a:t>   </a:t>
            </a:r>
            <a:r>
              <a:rPr sz="2200" b="1">
                <a:solidFill>
                  <a:srgbClr val="27AE60"/>
                </a:solidFill>
                <a:latin typeface="Calibri"/>
              </a:rPr>
              <a:t>+30.8% ***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67E22"/>
                </a:solidFill>
                <a:latin typeface="Calibri"/>
              </a:rPr>
              <a:t>★ Sol 2 (Cat B)         </a:t>
            </a:r>
            <a:r>
              <a:rPr sz="2200" b="1">
                <a:solidFill>
                  <a:srgbClr val="E67E22"/>
                </a:solidFill>
                <a:latin typeface="Calibri"/>
              </a:rPr>
              <a:t>0.7422</a:t>
            </a:r>
            <a:r>
              <a:rPr sz="2200" b="0">
                <a:solidFill>
                  <a:srgbClr val="2D2D2D"/>
                </a:solidFill>
                <a:latin typeface="Calibri"/>
              </a:rPr>
              <a:t>   </a:t>
            </a:r>
            <a:r>
              <a:rPr sz="2200" b="1">
                <a:solidFill>
                  <a:srgbClr val="E67E22"/>
                </a:solidFill>
                <a:latin typeface="Calibri"/>
              </a:rPr>
              <a:t>0.485</a:t>
            </a:r>
            <a:r>
              <a:rPr sz="2200" b="0">
                <a:solidFill>
                  <a:srgbClr val="2D2D2D"/>
                </a:solidFill>
                <a:latin typeface="Calibri"/>
              </a:rPr>
              <a:t>   </a:t>
            </a:r>
            <a:r>
              <a:rPr sz="2200" b="1">
                <a:solidFill>
                  <a:srgbClr val="E67E22"/>
                </a:solidFill>
                <a:latin typeface="Calibri"/>
              </a:rPr>
              <a:t>+19.2% ***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*** p &lt; 0.001, McNemar’s paired test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Both solutions significantly outperform same-category baselines.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800" b="0" i="1">
                <a:solidFill>
                  <a:srgbClr val="666666"/>
                </a:solidFill>
                <a:latin typeface="Calibri"/>
              </a:defRPr>
            </a:pPr>
            <a:r>
              <a:t>Neither surpasses BERT (Cat C) — expected given category constraints.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45546" y="1738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45546" y="1738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25546" y="1744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Evaluation &amp; Conclusions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45546" y="1786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345546" y="17900000"/>
            <a:ext cx="9575546" cy="2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05546" y="18010000"/>
            <a:ext cx="9255546" cy="2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Evaluation Methods: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Macro F1 (primary), MCC, per-class P/R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McNemar’s paired significance test (p &lt; 0.001)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Feature ablation (Sol 1) + GRL ablation (Sol 2)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Inter-model agreement (Cohen’s κ ≈ 0.40)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E86AB"/>
                </a:solidFill>
                <a:latin typeface="Calibri"/>
              </a:defRPr>
            </a:pPr>
            <a:r>
              <a:t>Key Conclusions: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Both solutions significantly outperform their baselines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Complementary approaches: feature engineering + neural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Novel features and adversarial debiasing add measurable value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241092" y="22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0241092" y="22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421092" y="22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241092" y="27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0241092" y="2750000"/>
            <a:ext cx="9575546" cy="36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f1_chart_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1092" y="2970000"/>
            <a:ext cx="9335546" cy="315000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20241092" y="65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241092" y="65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421092" y="65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Confusion Matrices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241092" y="70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0241092" y="7050000"/>
            <a:ext cx="9575546" cy="31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cm_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1092" y="7270000"/>
            <a:ext cx="9415546" cy="265000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20241092" y="103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0241092" y="103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341092" y="1039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601092" y="103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Error Analysis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241092" y="108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0241092" y="10850000"/>
            <a:ext cx="9575546" cy="32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401092" y="10960000"/>
            <a:ext cx="9255546" cy="3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Inter-model agreement: </a:t>
            </a:r>
            <a:r>
              <a:rPr sz="2200" b="0">
                <a:solidFill>
                  <a:srgbClr val="2D2D2D"/>
                </a:solidFill>
                <a:latin typeface="Calibri"/>
              </a:rPr>
              <a:t>69.8% (Cohen’s κ = 0.396)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666666"/>
                </a:solidFill>
                <a:latin typeface="Calibri"/>
              </a:defRPr>
            </a:pPr>
            <a:r>
              <a:t>30.2% disagreement — among those, Sol 1 correct 48.6%, Sol 2 correct 51.4%.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Per-Class Strengths: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7AE60"/>
                </a:solidFill>
                <a:latin typeface="Calibri"/>
              </a:rPr>
              <a:t>  •  Sol 1: </a:t>
            </a:r>
            <a:r>
              <a:rPr sz="2000" b="0">
                <a:solidFill>
                  <a:srgbClr val="2D2D2D"/>
                </a:solidFill>
                <a:latin typeface="Calibri"/>
              </a:rPr>
              <a:t>Better at "Different Author" (75.6% vs 73.3%) — stylometric features detect differences well.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7E22"/>
                </a:solidFill>
                <a:latin typeface="Calibri"/>
              </a:rPr>
              <a:t>  •  Sol 2: </a:t>
            </a:r>
            <a:r>
              <a:rPr sz="2000" b="0">
                <a:solidFill>
                  <a:srgbClr val="2D2D2D"/>
                </a:solidFill>
                <a:latin typeface="Calibri"/>
              </a:rPr>
              <a:t>Better at "Same Author" (75.1% vs 71.3%) — neural model captures stylistic similarity.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E84D60"/>
                </a:solidFill>
                <a:latin typeface="Calibri"/>
              </a:rPr>
              <a:t>  •  Topic confound: </a:t>
            </a:r>
            <a:r>
              <a:rPr sz="2000" b="0">
                <a:solidFill>
                  <a:srgbClr val="2D2D2D"/>
                </a:solidFill>
                <a:latin typeface="Calibri"/>
              </a:rPr>
              <a:t>Elevated FP on same-topic pairs; GRL partially mitigates.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Feature ablation: </a:t>
            </a:r>
            <a:r>
              <a:rPr sz="2200" b="0">
                <a:solidFill>
                  <a:srgbClr val="2D2D2D"/>
                </a:solidFill>
                <a:latin typeface="Calibri"/>
              </a:rPr>
              <a:t>Removing 21 novel features: -1.8% F1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2E86AB"/>
                </a:solidFill>
                <a:latin typeface="Calibri"/>
              </a:rPr>
              <a:t>GRL ablation: </a:t>
            </a:r>
            <a:r>
              <a:rPr sz="2200" b="0">
                <a:solidFill>
                  <a:srgbClr val="2D2D2D"/>
                </a:solidFill>
                <a:latin typeface="Calibri"/>
              </a:rPr>
              <a:t>Removing GRL: -1.2% F1 on topic-confounded pairs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241092" y="142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241092" y="142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341092" y="14290000"/>
            <a:ext cx="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601092" y="142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Limitations &amp; Ethics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241092" y="147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0241092" y="14750000"/>
            <a:ext cx="9575546" cy="23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401092" y="14860000"/>
            <a:ext cx="9255546" cy="2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Limitations: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Closed-mode: may not generalize to unseen domains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English-only; cultural writing biases not addressed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Neither Sol 1 nor Sol 2 surpasses BERT baseline (0.7854)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Style verification can be circumvented by imitation attacks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Ethical Considerations: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Surveillance risk: could be misused for deanonymization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False positives in forensic settings cause serious harm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66666"/>
                </a:solidFill>
                <a:latin typeface="Calibri"/>
              </a:rPr>
              <a:t>  •  </a:t>
            </a:r>
            <a:r>
              <a:rPr sz="2000" b="0">
                <a:solidFill>
                  <a:srgbClr val="2D2D2D"/>
                </a:solidFill>
                <a:latin typeface="Calibri"/>
              </a:rPr>
              <a:t>Should not be sole evidence in legal proceedings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241092" y="17230000"/>
            <a:ext cx="9575546" cy="5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241092" y="17230000"/>
            <a:ext cx="60000" cy="520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421092" y="17295000"/>
            <a:ext cx="9325546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Key References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241092" y="17715000"/>
            <a:ext cx="9575546" cy="35000"/>
          </a:xfrm>
          <a:prstGeom prst="rect">
            <a:avLst/>
          </a:prstGeom>
          <a:solidFill>
            <a:srgbClr val="1E6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0241092" y="17750000"/>
            <a:ext cx="9575546" cy="1400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401092" y="17850000"/>
            <a:ext cx="9255546" cy="1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[1] Stamatatos et al. (2023) Diff-Vectors for Authorship Analysis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[2] Ganin &amp; Lempitsky (2015) Domain Adaptation by Backpropagation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[3] Abbasi &amp; Chen (2008) Writeprints: Stylometric Identification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[4] Boenninghoff et al. (2019) AdHominem: Explainable AV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20996960"/>
            <a:ext cx="30266640" cy="4000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0" y="20996960"/>
            <a:ext cx="30266640" cy="4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0000" y="21096960"/>
            <a:ext cx="292666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99AABB"/>
                </a:solidFill>
                <a:latin typeface="Calibri"/>
              </a:defRPr>
            </a:pPr>
            <a:r>
              <a:t>COMP34812 Natural Language Understanding  │  University of Manchester  │  Group 34  │  2025–26  │  Closed Mode  │  Predictions: Group_34_A.csv + Group_34_B.csv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