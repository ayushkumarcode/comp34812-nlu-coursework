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6576000" cy="2057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00" cy="265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00" cy="8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000"/>
            <a:ext cx="36576000" cy="9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50000"/>
            <a:ext cx="36576000" cy="12000"/>
          </a:xfrm>
          <a:prstGeom prst="rect">
            <a:avLst/>
          </a:prstGeom>
          <a:solidFill>
            <a:srgbClr val="E8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0000"/>
            <a:ext cx="345760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6400" b="1">
                <a:solidFill>
                  <a:srgbClr val="FFFFFF"/>
                </a:solidFill>
                <a:latin typeface="Calibri"/>
              </a:defRPr>
            </a:pPr>
            <a:r>
              <a:t>Authorship Verification: Combining Stylometric Feature</a:t>
            </a:r>
            <a:br/>
            <a:r>
              <a:t>Engineering with Adversarial Neural Style-Content Disentanglement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000" y="1650000"/>
            <a:ext cx="34576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0">
                <a:solidFill>
                  <a:srgbClr val="BBCCDD"/>
                </a:solidFill>
                <a:latin typeface="Calibri"/>
              </a:defRPr>
            </a:pPr>
            <a:r>
              <a:t>COMP34812 Natural Language Understanding  |  Group 34  |  University of Manchester  |  2025–26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2650000"/>
            <a:ext cx="36576000" cy="350000"/>
          </a:xfrm>
          <a:prstGeom prst="rect">
            <a:avLst/>
          </a:prstGeom>
          <a:solidFill>
            <a:srgbClr val="E8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00000" y="2700000"/>
            <a:ext cx="12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27AE60"/>
                </a:solidFill>
                <a:latin typeface="Calibri"/>
              </a:rPr>
              <a:t>Sol 1 (Cat A): </a:t>
            </a:r>
            <a:r>
              <a:rPr sz="3000" b="1">
                <a:solidFill>
                  <a:srgbClr val="27AE60"/>
                </a:solidFill>
                <a:latin typeface="Calibri"/>
              </a:rPr>
              <a:t>F1 = 0.7340</a:t>
            </a:r>
            <a:r>
              <a:rPr sz="2200" b="0">
                <a:solidFill>
                  <a:srgbClr val="666666"/>
                </a:solidFill>
                <a:latin typeface="Calibri"/>
              </a:rPr>
              <a:t>  (+30.8% vs SVM)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00000" y="2700000"/>
            <a:ext cx="14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E67E22"/>
                </a:solidFill>
                <a:latin typeface="Calibri"/>
              </a:rPr>
              <a:t>Sol 2 (Cat B): </a:t>
            </a:r>
            <a:r>
              <a:rPr sz="3000" b="1">
                <a:solidFill>
                  <a:srgbClr val="E67E22"/>
                </a:solidFill>
                <a:latin typeface="Calibri"/>
              </a:rPr>
              <a:t>F1 = 0.7422</a:t>
            </a:r>
            <a:r>
              <a:rPr sz="2200" b="0">
                <a:solidFill>
                  <a:srgbClr val="666666"/>
                </a:solidFill>
                <a:latin typeface="Calibri"/>
              </a:rPr>
              <a:t>  (+19.2% vs LSTM)</a:t>
            </a:r>
            <a:r>
              <a:rPr sz="2000" b="0" i="1">
                <a:solidFill>
                  <a:srgbClr val="BBBBBB"/>
                </a:solidFill>
                <a:latin typeface="Calibri"/>
              </a:rPr>
              <a:t>    Both p &lt; 0.001 ***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81500" y="3150000"/>
            <a:ext cx="15000" cy="1255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00" y="3150000"/>
            <a:ext cx="15000" cy="1255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194500" y="3150000"/>
            <a:ext cx="15000" cy="1255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0000" y="315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315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000" y="324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0000" y="326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0000" y="382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0000" y="3870000"/>
            <a:ext cx="8456500" cy="355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" y="3990000"/>
            <a:ext cx="8056500" cy="3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Task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Given two texts, determine whether they were written by the same author. Binary classification requiring models to capture authorial style while remaining robust to topical variation.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E84D60"/>
                </a:solidFill>
                <a:latin typeface="Calibri"/>
              </a:defRPr>
            </a:pPr>
            <a:r>
              <a:t>Key Challenge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Style-content confound: models may exploit topic similarity as a proxy for shared authorship, producing spurious correlations that fail to generalize.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Our Approach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7AE60"/>
                </a:solidFill>
                <a:latin typeface="Calibri"/>
              </a:rPr>
              <a:t>Solution 1 (Cat A)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Stylometric feature ensemble with LightGBM classifier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67E22"/>
                </a:solidFill>
                <a:latin typeface="Calibri"/>
              </a:rPr>
              <a:t>Solution 2 (Cat B)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Adversarial CNN-BiLSTM with gradient reversal for debiasing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0000" y="762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0000" y="762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0000" y="771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0000" y="773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Dataset Summary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0000" y="829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00000" y="8340000"/>
            <a:ext cx="8456500" cy="325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000" y="8460000"/>
            <a:ext cx="8056500" cy="30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Training: </a:t>
            </a:r>
            <a:r>
              <a:rPr sz="2400" b="0">
                <a:solidFill>
                  <a:srgbClr val="2D2D2D"/>
                </a:solidFill>
                <a:latin typeface="Calibri"/>
              </a:rPr>
              <a:t>27,643 text pairs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Development: </a:t>
            </a:r>
            <a:r>
              <a:rPr sz="2400" b="0">
                <a:solidFill>
                  <a:srgbClr val="2D2D2D"/>
                </a:solidFill>
                <a:latin typeface="Calibri"/>
              </a:rPr>
              <a:t>5,993 text pairs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Labels: </a:t>
            </a:r>
            <a:r>
              <a:rPr sz="2400" b="0">
                <a:solidFill>
                  <a:srgbClr val="2D2D2D"/>
                </a:solidFill>
                <a:latin typeface="Calibri"/>
              </a:rPr>
              <a:t>Same Author (51%) / Different Author (49%)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Domains: </a:t>
            </a:r>
            <a:r>
              <a:rPr sz="2400" b="0">
                <a:solidFill>
                  <a:srgbClr val="2D2D2D"/>
                </a:solidFill>
                <a:latin typeface="Calibri"/>
              </a:rPr>
              <a:t>Cross-domain (emails, blog posts, reviews)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Representation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Text pair (t₁, t₂) → diff-vector |f(t₁) − f(t₂)| capturing stylistic distance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Content-agnostic by design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2000" b="0" i="1">
                <a:solidFill>
                  <a:srgbClr val="666666"/>
                </a:solidFill>
                <a:latin typeface="Calibri"/>
              </a:defRPr>
            </a:pPr>
            <a:r>
              <a:t>Closed mode — only provided training data permitted.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0000" y="1179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00000" y="1179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000" y="1188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0000" y="1190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Evaluation Methodology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0000" y="1246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00000" y="12510000"/>
            <a:ext cx="8456500" cy="32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0000" y="12630000"/>
            <a:ext cx="80565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Metrics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Macro F1 (primary), MCC, Per-class P/R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Statistical Testing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McNemar's test for paired significance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All improvements significant at p &lt; 0.001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Additional Evaluation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Feature ablation study (Sol 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Inter-model agreement (Cohen’s κ)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Cross-domain error breakdown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6500" y="315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6500" y="315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36500" y="324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④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6500" y="326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Solution 1: Stylometric Ensemble (Cat A)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06500" y="382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606500" y="3870000"/>
            <a:ext cx="8456500" cy="56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06500" y="3990000"/>
            <a:ext cx="8056500" cy="5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2D2D2D"/>
                </a:solidFill>
                <a:latin typeface="Calibri"/>
              </a:defRPr>
            </a:pPr>
            <a:r>
              <a:t>417 features per text → 695-dim diff-vector: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Standard Stylometric (396):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Function words (150)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Closed-class style markers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TF-IDF + SVD (100)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Latent semantic dims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Char n-grams (56)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2–4 char profiles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POS distributions (45)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Syntactic signatures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Lexical richness (30)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TTR, Yule's K, hapax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Structural (15)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Sentence/paragraph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Novel Features (21):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Syntactic complexity (10)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Parse depth, clause density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Writing rhythm (6)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Syllable var, punct cadence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Info-theoretic (5)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Entropy, compression ratio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Classifier: LightGBM (1000 trees, depth=7)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06500" y="967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606500" y="967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856500" y="978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Feature Group Breakdown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06500" y="1034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606500" y="10390000"/>
            <a:ext cx="8456500" cy="48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feature_groups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6500" y="10640000"/>
            <a:ext cx="8156500" cy="4300000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8513000" y="315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513000" y="315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8643000" y="324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963000" y="326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Solution 2: Adversarial CNN-BiLSTM (Cat B)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513000" y="382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8513000" y="3870000"/>
            <a:ext cx="8456500" cy="46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8713000" y="3990000"/>
            <a:ext cx="8056500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2E86AB"/>
                </a:solidFill>
                <a:latin typeface="Calibri"/>
              </a:defRPr>
            </a:pPr>
            <a:r>
              <a:t>Siamese Encoder (813K params):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Char embedding (64d)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Sub-word stylistic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Multi-width CNN (k=3,5,7)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Multi-scale local features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BiLSTM (256 hidden)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Sequential style dependencies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2D2D2D"/>
                </a:solidFill>
                <a:latin typeface="Calibri"/>
              </a:rPr>
              <a:t>Additive Attention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Salient feature weighting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400" b="1">
                <a:solidFill>
                  <a:srgbClr val="E84D60"/>
                </a:solidFill>
                <a:latin typeface="Calibri"/>
              </a:defRPr>
            </a:pPr>
            <a:r>
              <a:t>Adversarial Debiasing: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Gradient Reversal Layer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Ganin &amp; Lempitsky (2015)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1">
                <a:solidFill>
                  <a:srgbClr val="E84D60"/>
                </a:solidFill>
                <a:latin typeface="Calibri"/>
              </a:rPr>
              <a:t>Topic pseudo-labels</a:t>
            </a:r>
            <a:r>
              <a:rPr sz="2000" b="0">
                <a:solidFill>
                  <a:srgbClr val="666666"/>
                </a:solidFill>
                <a:latin typeface="Calibri"/>
              </a:rPr>
              <a:t> — TF-IDF + KMeans (k=10)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Forces topic-invariant style representations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2000" b="0" i="1">
                <a:solidFill>
                  <a:srgbClr val="666666"/>
                </a:solidFill>
                <a:latin typeface="Calibri"/>
              </a:defRPr>
            </a:pPr>
            <a:r>
              <a:t>Data Aug: char perturbation (insert/delete/swap)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513000" y="867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8513000" y="867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763000" y="878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Neural Architecture Diagram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513000" y="934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8513000" y="9390000"/>
            <a:ext cx="8456500" cy="54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arch_diagram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33000" y="9640000"/>
            <a:ext cx="8216500" cy="490000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27419500" y="315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419500" y="315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549500" y="3240000"/>
            <a:ext cx="4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FFFFFF"/>
                </a:solidFill>
                <a:latin typeface="Calibri"/>
              </a:defRPr>
            </a:pPr>
            <a:r>
              <a:t>⑥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869500" y="326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Results (Development Set)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19500" y="382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27419500" y="3870000"/>
            <a:ext cx="8456500" cy="36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619500" y="3990000"/>
            <a:ext cx="80565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1B3A5C"/>
                </a:solidFill>
                <a:latin typeface="Calibri"/>
              </a:rPr>
              <a:t>Model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 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F1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vs Baseline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SVM Baseline     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0.5610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LSTM Baseline    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0.6226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BERT Baseline    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0.7854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27AE60"/>
                </a:solidFill>
                <a:latin typeface="Calibri"/>
              </a:rPr>
              <a:t>★ Sol 1 (Cat A)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0.7340</a:t>
            </a:r>
            <a:r>
              <a:rPr sz="2200" b="0">
                <a:solidFill>
                  <a:srgbClr val="2D2D2D"/>
                </a:solidFill>
                <a:latin typeface="Calibri"/>
              </a:rPr>
              <a:t>  </a:t>
            </a:r>
            <a:r>
              <a:rPr sz="2200" b="1">
                <a:solidFill>
                  <a:srgbClr val="27AE60"/>
                </a:solidFill>
                <a:latin typeface="Calibri"/>
              </a:rPr>
              <a:t>+30.8% vs SVM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27AE60"/>
                </a:solidFill>
                <a:latin typeface="Calibri"/>
              </a:defRPr>
            </a:pPr>
            <a:r>
              <a:t>     MCC=0.469  Acc=0.734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2200" b="1">
                <a:solidFill>
                  <a:srgbClr val="E67E22"/>
                </a:solidFill>
                <a:latin typeface="Calibri"/>
              </a:rPr>
              <a:t>★ Sol 2 (Cat B)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0.7422</a:t>
            </a:r>
            <a:r>
              <a:rPr sz="2200" b="0">
                <a:solidFill>
                  <a:srgbClr val="2D2D2D"/>
                </a:solidFill>
                <a:latin typeface="Calibri"/>
              </a:rPr>
              <a:t>  </a:t>
            </a:r>
            <a:r>
              <a:rPr sz="2200" b="1">
                <a:solidFill>
                  <a:srgbClr val="E67E22"/>
                </a:solidFill>
                <a:latin typeface="Calibri"/>
              </a:rPr>
              <a:t>+19.2% vs LSTM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E67E22"/>
                </a:solidFill>
                <a:latin typeface="Calibri"/>
              </a:defRPr>
            </a:pPr>
            <a:r>
              <a:t>     MCC=0.485  Acc=0.742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*** p &lt; 0.001, McNemar’s test. Both statistically significant.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19500" y="765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7419500" y="765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669500" y="776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19500" y="832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7419500" y="8370000"/>
            <a:ext cx="8456500" cy="35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f1_chart_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39500" y="8550000"/>
            <a:ext cx="8216500" cy="310000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27419500" y="12050000"/>
            <a:ext cx="84565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7419500" y="1205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7669500" y="12160000"/>
            <a:ext cx="81065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Confusion Matrices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19500" y="12720000"/>
            <a:ext cx="84565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27419500" y="12770000"/>
            <a:ext cx="8456500" cy="27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cm_fin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79500" y="12920000"/>
            <a:ext cx="8336500" cy="24000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700000" y="15800000"/>
            <a:ext cx="173630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00000" y="158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50000" y="15910000"/>
            <a:ext cx="17013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Error Analysis &amp; Key Findings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00000" y="16470000"/>
            <a:ext cx="173630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00000" y="16520000"/>
            <a:ext cx="17363000" cy="32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00000" y="16620000"/>
            <a:ext cx="16963000" cy="3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E86AB"/>
                </a:solidFill>
                <a:latin typeface="Calibri"/>
              </a:rPr>
              <a:t>Inter-model agreement: </a:t>
            </a:r>
            <a:r>
              <a:rPr sz="2400" b="0">
                <a:solidFill>
                  <a:srgbClr val="2D2D2D"/>
                </a:solidFill>
                <a:latin typeface="Calibri"/>
              </a:rPr>
              <a:t>~70% (Cohen’s κ = 0.40) — complementary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Complementary Failure Modes: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27AE60"/>
                </a:solidFill>
                <a:latin typeface="Calibri"/>
              </a:rPr>
              <a:t>  •  Sol 1: </a:t>
            </a:r>
            <a:r>
              <a:rPr sz="2000" b="0">
                <a:solidFill>
                  <a:srgbClr val="2D2D2D"/>
                </a:solidFill>
                <a:latin typeface="Calibri"/>
              </a:rPr>
              <a:t>Struggles with short texts (&lt;200 tokens) — insufficient features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E67E22"/>
                </a:solidFill>
                <a:latin typeface="Calibri"/>
              </a:rPr>
              <a:t>  •  Sol 2: </a:t>
            </a:r>
            <a:r>
              <a:rPr sz="2000" b="0">
                <a:solidFill>
                  <a:srgbClr val="2D2D2D"/>
                </a:solidFill>
                <a:latin typeface="Calibri"/>
              </a:rPr>
              <a:t>Struggles with formal/structured texts — less char-level variation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E84D60"/>
                </a:solidFill>
                <a:latin typeface="Calibri"/>
              </a:rPr>
              <a:t>  •  Topic Confound: </a:t>
            </a:r>
            <a:r>
              <a:rPr sz="2000" b="0">
                <a:solidFill>
                  <a:srgbClr val="2D2D2D"/>
                </a:solidFill>
                <a:latin typeface="Calibri"/>
              </a:rPr>
              <a:t>Elevated FP on same-topic pairs; GRL partially mitigates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2E86AB"/>
                </a:solidFill>
                <a:latin typeface="Calibri"/>
              </a:rPr>
              <a:t>Ablation: </a:t>
            </a:r>
            <a:r>
              <a:rPr sz="2000" b="0">
                <a:solidFill>
                  <a:srgbClr val="2D2D2D"/>
                </a:solidFill>
                <a:latin typeface="Calibri"/>
              </a:rPr>
              <a:t>Removing novel features drops Sol 1 F1 by 1.8%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8513000" y="15800000"/>
            <a:ext cx="17363000" cy="7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8513000" y="15800000"/>
            <a:ext cx="90000" cy="7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8763000" y="15910000"/>
            <a:ext cx="17013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Limitations &amp; Key References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8513000" y="16470000"/>
            <a:ext cx="17363000" cy="5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18513000" y="16520000"/>
            <a:ext cx="17363000" cy="3200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8713000" y="16620000"/>
            <a:ext cx="16963000" cy="3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Limitations: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Closed-mode — may not generalize to other domains/languages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English-only; cultural biases in writing norms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Neither surpasses BERT baseline (0.7854) — transformer headroom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67E22"/>
                </a:solidFill>
                <a:latin typeface="Calibri"/>
              </a:defRPr>
            </a:pPr>
            <a:r>
              <a:t>Ethics: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200" b="0">
                <a:solidFill>
                  <a:srgbClr val="2D2D2D"/>
                </a:solidFill>
                <a:latin typeface="Calibri"/>
              </a:rPr>
              <a:t>Risk: surveillance, deanonymization, forensic false positives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References: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[1] Stamatatos+ (2023) Diff-Vectors for AV  [2] Ganin &amp; Lempitsky (2015) GRL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[3] Abbasi &amp; Chen (2008) Writeprints  [4] Boenninghoff+ (2019) AdHominem</a:t>
            </a:r>
          </a:p>
        </p:txBody>
      </p:sp>
      <p:sp>
        <p:nvSpPr>
          <p:cNvPr id="92" name="Rectangle 91"/>
          <p:cNvSpPr/>
          <p:nvPr/>
        </p:nvSpPr>
        <p:spPr>
          <a:xfrm>
            <a:off x="0" y="20094000"/>
            <a:ext cx="36576000" cy="48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0" y="20094000"/>
            <a:ext cx="36576000" cy="4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0000" y="20194000"/>
            <a:ext cx="34976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99AABB"/>
                </a:solidFill>
                <a:latin typeface="Calibri"/>
              </a:defRPr>
            </a:pPr>
            <a:r>
              <a:t>COMP34812 Natural Language Understanding  │  University of Manchester  │  Group 34  │  2025–26  │  Closed Mode  │  github.com/ayush-kumar-prog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